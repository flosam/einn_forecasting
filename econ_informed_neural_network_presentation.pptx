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196067"/>
            <a:ext cx="8868800" cy="20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1099" y="5209267"/>
            <a:ext cx="8087200" cy="55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026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50967" y="1800200"/>
            <a:ext cx="3701600" cy="14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50967" y="3292200"/>
            <a:ext cx="3701600" cy="1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779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2170967" y="4373233"/>
            <a:ext cx="8356800" cy="9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2170967" y="2460399"/>
            <a:ext cx="8356800" cy="9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2170967" y="2117567"/>
            <a:ext cx="8356800" cy="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2170967" y="4030467"/>
            <a:ext cx="8356800" cy="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>
            <a:off x="0" y="6215985"/>
            <a:ext cx="12192000" cy="642017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5927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1" y="4572400"/>
            <a:ext cx="12188633" cy="2285600"/>
            <a:chOff x="0" y="3429300"/>
            <a:chExt cx="9141475" cy="1714200"/>
          </a:xfrm>
        </p:grpSpPr>
        <p:sp>
          <p:nvSpPr>
            <p:cNvPr id="40" name="Google Shape;40;p6"/>
            <p:cNvSpPr/>
            <p:nvPr/>
          </p:nvSpPr>
          <p:spPr>
            <a:xfrm rot="10800000" flipH="1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rot="10800000" flipH="1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10800000" flipH="1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4" name="Google Shape;44;p6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7522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950967" y="1127767"/>
            <a:ext cx="5726400" cy="16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950967" y="2854767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7306433" y="719333"/>
            <a:ext cx="3934400" cy="541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10290233" y="4572400"/>
            <a:ext cx="1901600" cy="22856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950967" y="7193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4544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11232000" y="-5500"/>
            <a:ext cx="960400" cy="6858133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1800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>
            <a:off x="10290233" y="4572400"/>
            <a:ext cx="1901600" cy="22856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950967" y="7193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7965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535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 hasCustomPrompt="1"/>
          </p:nvPr>
        </p:nvSpPr>
        <p:spPr>
          <a:xfrm>
            <a:off x="3490133" y="2824733"/>
            <a:ext cx="5211600" cy="13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3756700" y="4282667"/>
            <a:ext cx="4678800" cy="55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628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20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4958217" y="1278800"/>
            <a:ext cx="3830000" cy="14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4958233" y="2889600"/>
            <a:ext cx="5523200" cy="26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1" y="0"/>
            <a:ext cx="12191833" cy="6858000"/>
            <a:chOff x="0" y="0"/>
            <a:chExt cx="9143875" cy="5143500"/>
          </a:xfrm>
        </p:grpSpPr>
        <p:sp>
          <p:nvSpPr>
            <p:cNvPr id="103" name="Google Shape;103;p14"/>
            <p:cNvSpPr/>
            <p:nvPr/>
          </p:nvSpPr>
          <p:spPr>
            <a:xfrm rot="10800000" flipH="1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rot="10800000" flipH="1">
              <a:off x="843077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rot="10800000" flipH="1"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430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5329767" y="1394533"/>
            <a:ext cx="5911600" cy="18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5329767" y="3240737"/>
            <a:ext cx="5911600" cy="18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15"/>
          <p:cNvSpPr>
            <a:spLocks noGrp="1"/>
          </p:cNvSpPr>
          <p:nvPr>
            <p:ph type="pic" idx="2"/>
          </p:nvPr>
        </p:nvSpPr>
        <p:spPr>
          <a:xfrm>
            <a:off x="950967" y="739568"/>
            <a:ext cx="3734800" cy="539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3" name="Google Shape;113;p15"/>
          <p:cNvGrpSpPr/>
          <p:nvPr/>
        </p:nvGrpSpPr>
        <p:grpSpPr>
          <a:xfrm>
            <a:off x="0" y="0"/>
            <a:ext cx="950800" cy="6858000"/>
            <a:chOff x="0" y="0"/>
            <a:chExt cx="713100" cy="5143500"/>
          </a:xfrm>
        </p:grpSpPr>
        <p:sp>
          <p:nvSpPr>
            <p:cNvPr id="114" name="Google Shape;114;p15"/>
            <p:cNvSpPr/>
            <p:nvPr/>
          </p:nvSpPr>
          <p:spPr>
            <a:xfrm rot="10800000" flipH="1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rot="10800000" flipH="1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rot="10800000" flipH="1">
            <a:off x="11241033" y="0"/>
            <a:ext cx="950800" cy="114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349033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20084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950967" y="719339"/>
            <a:ext cx="559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950967" y="1650205"/>
            <a:ext cx="5594000" cy="4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2" name="Google Shape;122;p16"/>
          <p:cNvGrpSpPr/>
          <p:nvPr/>
        </p:nvGrpSpPr>
        <p:grpSpPr>
          <a:xfrm>
            <a:off x="0" y="6216000"/>
            <a:ext cx="12192000" cy="6420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28547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950967" y="888300"/>
            <a:ext cx="9230800" cy="10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0" y="0"/>
            <a:ext cx="12192000" cy="642000"/>
            <a:chOff x="0" y="4662000"/>
            <a:chExt cx="9144000" cy="481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3" name="Google Shape;133;p17"/>
          <p:cNvSpPr/>
          <p:nvPr/>
        </p:nvSpPr>
        <p:spPr>
          <a:xfrm>
            <a:off x="950967" y="63524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1"/>
          </p:nvPr>
        </p:nvSpPr>
        <p:spPr>
          <a:xfrm>
            <a:off x="950967" y="2077933"/>
            <a:ext cx="9269200" cy="3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33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1"/>
          </p:nvPr>
        </p:nvSpPr>
        <p:spPr>
          <a:xfrm>
            <a:off x="950967" y="3713867"/>
            <a:ext cx="3159600" cy="2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subTitle" idx="2"/>
          </p:nvPr>
        </p:nvSpPr>
        <p:spPr>
          <a:xfrm>
            <a:off x="4308481" y="3713867"/>
            <a:ext cx="3159600" cy="2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ubTitle" idx="3"/>
          </p:nvPr>
        </p:nvSpPr>
        <p:spPr>
          <a:xfrm>
            <a:off x="7665995" y="3713867"/>
            <a:ext cx="3159600" cy="2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ubTitle" idx="4"/>
          </p:nvPr>
        </p:nvSpPr>
        <p:spPr>
          <a:xfrm>
            <a:off x="950967" y="2936167"/>
            <a:ext cx="3159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ubTitle" idx="5"/>
          </p:nvPr>
        </p:nvSpPr>
        <p:spPr>
          <a:xfrm>
            <a:off x="4308476" y="2936167"/>
            <a:ext cx="3159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ubTitle" idx="6"/>
          </p:nvPr>
        </p:nvSpPr>
        <p:spPr>
          <a:xfrm>
            <a:off x="7665984" y="2936167"/>
            <a:ext cx="31596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11727900" y="3215600"/>
            <a:ext cx="486000" cy="3642400"/>
            <a:chOff x="8795925" y="2411700"/>
            <a:chExt cx="364500" cy="2731800"/>
          </a:xfrm>
        </p:grpSpPr>
        <p:sp>
          <p:nvSpPr>
            <p:cNvPr id="144" name="Google Shape;144;p18"/>
            <p:cNvSpPr/>
            <p:nvPr/>
          </p:nvSpPr>
          <p:spPr>
            <a:xfrm rot="10800000" flipH="1">
              <a:off x="8795925" y="4286400"/>
              <a:ext cx="3645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rot="10800000" flipH="1">
              <a:off x="8795925" y="3429300"/>
              <a:ext cx="3645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 rot="10800000" flipH="1">
              <a:off x="8795925" y="2572200"/>
              <a:ext cx="3645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8795925" y="2411700"/>
              <a:ext cx="364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85776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ubTitle" idx="1"/>
          </p:nvPr>
        </p:nvSpPr>
        <p:spPr>
          <a:xfrm>
            <a:off x="950967" y="2212567"/>
            <a:ext cx="43816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2"/>
          </p:nvPr>
        </p:nvSpPr>
        <p:spPr>
          <a:xfrm>
            <a:off x="6265100" y="2212567"/>
            <a:ext cx="43816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subTitle" idx="3"/>
          </p:nvPr>
        </p:nvSpPr>
        <p:spPr>
          <a:xfrm>
            <a:off x="950967" y="4528267"/>
            <a:ext cx="43816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subTitle" idx="4"/>
          </p:nvPr>
        </p:nvSpPr>
        <p:spPr>
          <a:xfrm>
            <a:off x="6265100" y="4528267"/>
            <a:ext cx="43816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subTitle" idx="5"/>
          </p:nvPr>
        </p:nvSpPr>
        <p:spPr>
          <a:xfrm>
            <a:off x="950967" y="1784633"/>
            <a:ext cx="4381600" cy="5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ubTitle" idx="6"/>
          </p:nvPr>
        </p:nvSpPr>
        <p:spPr>
          <a:xfrm>
            <a:off x="950967" y="4100367"/>
            <a:ext cx="4381600" cy="5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subTitle" idx="7"/>
          </p:nvPr>
        </p:nvSpPr>
        <p:spPr>
          <a:xfrm>
            <a:off x="6265100" y="1784633"/>
            <a:ext cx="4381600" cy="5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subTitle" idx="8"/>
          </p:nvPr>
        </p:nvSpPr>
        <p:spPr>
          <a:xfrm>
            <a:off x="6265100" y="4100367"/>
            <a:ext cx="4381600" cy="5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59" name="Google Shape;159;p19"/>
          <p:cNvGrpSpPr/>
          <p:nvPr/>
        </p:nvGrpSpPr>
        <p:grpSpPr>
          <a:xfrm>
            <a:off x="1" y="4572400"/>
            <a:ext cx="12213900" cy="2285600"/>
            <a:chOff x="0" y="3429300"/>
            <a:chExt cx="9160425" cy="1714200"/>
          </a:xfrm>
        </p:grpSpPr>
        <p:grpSp>
          <p:nvGrpSpPr>
            <p:cNvPr id="160" name="Google Shape;160;p19"/>
            <p:cNvGrpSpPr/>
            <p:nvPr/>
          </p:nvGrpSpPr>
          <p:grpSpPr>
            <a:xfrm>
              <a:off x="8795925" y="3429300"/>
              <a:ext cx="364500" cy="1714200"/>
              <a:chOff x="8795925" y="3429300"/>
              <a:chExt cx="364500" cy="1714200"/>
            </a:xfrm>
          </p:grpSpPr>
          <p:sp>
            <p:nvSpPr>
              <p:cNvPr id="161" name="Google Shape;161;p19"/>
              <p:cNvSpPr/>
              <p:nvPr/>
            </p:nvSpPr>
            <p:spPr>
              <a:xfrm rot="10800000" flipH="1">
                <a:off x="8795925" y="4286400"/>
                <a:ext cx="364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rot="10800000" flipH="1">
                <a:off x="8795925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3" name="Google Shape;163;p19"/>
            <p:cNvGrpSpPr/>
            <p:nvPr/>
          </p:nvGrpSpPr>
          <p:grpSpPr>
            <a:xfrm>
              <a:off x="0" y="3429300"/>
              <a:ext cx="364500" cy="1714200"/>
              <a:chOff x="0" y="3429300"/>
              <a:chExt cx="364500" cy="1714200"/>
            </a:xfrm>
          </p:grpSpPr>
          <p:sp>
            <p:nvSpPr>
              <p:cNvPr id="164" name="Google Shape;164;p19"/>
              <p:cNvSpPr/>
              <p:nvPr/>
            </p:nvSpPr>
            <p:spPr>
              <a:xfrm rot="10800000" flipH="1">
                <a:off x="0" y="4286400"/>
                <a:ext cx="364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rot="10800000" flipH="1">
                <a:off x="0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6" name="Google Shape;166;p19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08024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subTitle" idx="1"/>
          </p:nvPr>
        </p:nvSpPr>
        <p:spPr>
          <a:xfrm>
            <a:off x="950800" y="2077013"/>
            <a:ext cx="29780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ubTitle" idx="2"/>
          </p:nvPr>
        </p:nvSpPr>
        <p:spPr>
          <a:xfrm>
            <a:off x="4607000" y="2077013"/>
            <a:ext cx="29780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ubTitle" idx="3"/>
          </p:nvPr>
        </p:nvSpPr>
        <p:spPr>
          <a:xfrm>
            <a:off x="950800" y="4384067"/>
            <a:ext cx="29780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ubTitle" idx="4"/>
          </p:nvPr>
        </p:nvSpPr>
        <p:spPr>
          <a:xfrm>
            <a:off x="4607000" y="4384067"/>
            <a:ext cx="29780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subTitle" idx="5"/>
          </p:nvPr>
        </p:nvSpPr>
        <p:spPr>
          <a:xfrm>
            <a:off x="8263200" y="2077013"/>
            <a:ext cx="29780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6"/>
          </p:nvPr>
        </p:nvSpPr>
        <p:spPr>
          <a:xfrm>
            <a:off x="8263200" y="4384067"/>
            <a:ext cx="2978000" cy="15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subTitle" idx="7"/>
          </p:nvPr>
        </p:nvSpPr>
        <p:spPr>
          <a:xfrm>
            <a:off x="950800" y="1742816"/>
            <a:ext cx="2978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subTitle" idx="8"/>
          </p:nvPr>
        </p:nvSpPr>
        <p:spPr>
          <a:xfrm>
            <a:off x="4610200" y="1742816"/>
            <a:ext cx="2974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9"/>
          </p:nvPr>
        </p:nvSpPr>
        <p:spPr>
          <a:xfrm>
            <a:off x="8266400" y="1742816"/>
            <a:ext cx="2974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3"/>
          </p:nvPr>
        </p:nvSpPr>
        <p:spPr>
          <a:xfrm>
            <a:off x="950800" y="4045584"/>
            <a:ext cx="2978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ubTitle" idx="14"/>
          </p:nvPr>
        </p:nvSpPr>
        <p:spPr>
          <a:xfrm>
            <a:off x="4610200" y="4045591"/>
            <a:ext cx="2974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15"/>
          </p:nvPr>
        </p:nvSpPr>
        <p:spPr>
          <a:xfrm>
            <a:off x="8266400" y="4045591"/>
            <a:ext cx="2974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0" y="6215985"/>
            <a:ext cx="12192000" cy="642017"/>
            <a:chOff x="0" y="4661988"/>
            <a:chExt cx="9144000" cy="481513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92087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 hasCustomPrompt="1"/>
          </p:nvPr>
        </p:nvSpPr>
        <p:spPr>
          <a:xfrm>
            <a:off x="4383800" y="2752251"/>
            <a:ext cx="3424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4383800" y="3662536"/>
            <a:ext cx="3424400" cy="44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 idx="2" hasCustomPrompt="1"/>
          </p:nvPr>
        </p:nvSpPr>
        <p:spPr>
          <a:xfrm>
            <a:off x="4383800" y="1220233"/>
            <a:ext cx="3424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3"/>
          </p:nvPr>
        </p:nvSpPr>
        <p:spPr>
          <a:xfrm>
            <a:off x="4383800" y="2130505"/>
            <a:ext cx="3424400" cy="44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title" idx="4" hasCustomPrompt="1"/>
          </p:nvPr>
        </p:nvSpPr>
        <p:spPr>
          <a:xfrm>
            <a:off x="4383800" y="4284267"/>
            <a:ext cx="3424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>
            <a:spLocks noGrp="1"/>
          </p:cNvSpPr>
          <p:nvPr>
            <p:ph type="subTitle" idx="5"/>
          </p:nvPr>
        </p:nvSpPr>
        <p:spPr>
          <a:xfrm>
            <a:off x="4383800" y="5194567"/>
            <a:ext cx="3424400" cy="44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5129400" y="504575"/>
            <a:ext cx="1933200" cy="5848075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800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0" y="366751"/>
            <a:ext cx="12192000" cy="6491251"/>
            <a:chOff x="0" y="275063"/>
            <a:chExt cx="9144000" cy="4868438"/>
          </a:xfrm>
        </p:grpSpPr>
        <p:sp>
          <p:nvSpPr>
            <p:cNvPr id="199" name="Google Shape;199;p22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0" name="Google Shape;200;p22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3" name="Google Shape;203;p22"/>
          <p:cNvGrpSpPr/>
          <p:nvPr/>
        </p:nvGrpSpPr>
        <p:grpSpPr>
          <a:xfrm>
            <a:off x="11241033" y="0"/>
            <a:ext cx="951091" cy="1142800"/>
            <a:chOff x="8430775" y="0"/>
            <a:chExt cx="713318" cy="857100"/>
          </a:xfrm>
        </p:grpSpPr>
        <p:sp>
          <p:nvSpPr>
            <p:cNvPr id="204" name="Google Shape;204;p22"/>
            <p:cNvSpPr/>
            <p:nvPr/>
          </p:nvSpPr>
          <p:spPr>
            <a:xfrm rot="10800000" flipH="1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rot="10800000" flipH="1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792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08" name="Google Shape;208;p23"/>
          <p:cNvGrpSpPr/>
          <p:nvPr/>
        </p:nvGrpSpPr>
        <p:grpSpPr>
          <a:xfrm>
            <a:off x="-133" y="4572400"/>
            <a:ext cx="1911100" cy="2285600"/>
            <a:chOff x="-100" y="3429300"/>
            <a:chExt cx="1433325" cy="1714200"/>
          </a:xfrm>
        </p:grpSpPr>
        <p:sp>
          <p:nvSpPr>
            <p:cNvPr id="209" name="Google Shape;209;p23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12" name="Google Shape;212;p23"/>
          <p:cNvSpPr/>
          <p:nvPr/>
        </p:nvSpPr>
        <p:spPr>
          <a:xfrm>
            <a:off x="9506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44300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15" name="Google Shape;215;p24"/>
          <p:cNvGrpSpPr/>
          <p:nvPr/>
        </p:nvGrpSpPr>
        <p:grpSpPr>
          <a:xfrm>
            <a:off x="0" y="0"/>
            <a:ext cx="12192000" cy="6880200"/>
            <a:chOff x="0" y="0"/>
            <a:chExt cx="9144000" cy="5160150"/>
          </a:xfrm>
        </p:grpSpPr>
        <p:grpSp>
          <p:nvGrpSpPr>
            <p:cNvPr id="216" name="Google Shape;216;p24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217" name="Google Shape;217;p24"/>
              <p:cNvSpPr/>
              <p:nvPr/>
            </p:nvSpPr>
            <p:spPr>
              <a:xfrm rot="10800000" flipH="1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 rot="10800000" flipH="1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9" name="Google Shape;219;p24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220" name="Google Shape;220;p24"/>
              <p:cNvSpPr/>
              <p:nvPr/>
            </p:nvSpPr>
            <p:spPr>
              <a:xfrm rot="10800000" flipH="1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 rot="10800000" flipH="1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 rot="10800000" flipH="1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3" name="Google Shape;223;p24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73835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26" name="Google Shape;226;p25"/>
          <p:cNvGrpSpPr/>
          <p:nvPr/>
        </p:nvGrpSpPr>
        <p:grpSpPr>
          <a:xfrm>
            <a:off x="1" y="0"/>
            <a:ext cx="12193433" cy="6858000"/>
            <a:chOff x="0" y="0"/>
            <a:chExt cx="9145075" cy="5143500"/>
          </a:xfrm>
        </p:grpSpPr>
        <p:sp>
          <p:nvSpPr>
            <p:cNvPr id="227" name="Google Shape;227;p25"/>
            <p:cNvSpPr/>
            <p:nvPr/>
          </p:nvSpPr>
          <p:spPr>
            <a:xfrm rot="10800000" flipH="1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 rot="10800000" flipH="1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 rot="10800000" flipH="1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 rot="10800000" flipH="1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5"/>
            <p:cNvSpPr/>
            <p:nvPr/>
          </p:nvSpPr>
          <p:spPr>
            <a:xfrm rot="10800000" flipH="1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2" name="Google Shape;232;p25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06147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35" name="Google Shape;235;p26"/>
          <p:cNvGrpSpPr/>
          <p:nvPr/>
        </p:nvGrpSpPr>
        <p:grpSpPr>
          <a:xfrm>
            <a:off x="1" y="0"/>
            <a:ext cx="12191833" cy="6858000"/>
            <a:chOff x="0" y="0"/>
            <a:chExt cx="9143875" cy="5143500"/>
          </a:xfrm>
        </p:grpSpPr>
        <p:sp>
          <p:nvSpPr>
            <p:cNvPr id="236" name="Google Shape;236;p26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1" name="Google Shape;241;p26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893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44" name="Google Shape;244;p27"/>
          <p:cNvGrpSpPr/>
          <p:nvPr/>
        </p:nvGrpSpPr>
        <p:grpSpPr>
          <a:xfrm>
            <a:off x="0" y="4367834"/>
            <a:ext cx="12192000" cy="2485233"/>
            <a:chOff x="0" y="3275875"/>
            <a:chExt cx="9144000" cy="1863925"/>
          </a:xfrm>
        </p:grpSpPr>
        <p:sp>
          <p:nvSpPr>
            <p:cNvPr id="245" name="Google Shape;245;p27"/>
            <p:cNvSpPr/>
            <p:nvPr/>
          </p:nvSpPr>
          <p:spPr>
            <a:xfrm rot="10800000" flipH="1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6" name="Google Shape;246;p27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247" name="Google Shape;247;p27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 rot="10800000" flipH="1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rot="10800000" flipH="1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50" name="Google Shape;250;p27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1" name="Google Shape;251;p27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395236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1_Title and text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950967" y="983800"/>
            <a:ext cx="6193600" cy="17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1"/>
          </p:nvPr>
        </p:nvSpPr>
        <p:spPr>
          <a:xfrm>
            <a:off x="950967" y="2854767"/>
            <a:ext cx="61936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28"/>
          <p:cNvSpPr>
            <a:spLocks noGrp="1"/>
          </p:cNvSpPr>
          <p:nvPr>
            <p:ph type="pic" idx="2"/>
          </p:nvPr>
        </p:nvSpPr>
        <p:spPr>
          <a:xfrm>
            <a:off x="7306433" y="719333"/>
            <a:ext cx="3934400" cy="541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10290233" y="4572400"/>
            <a:ext cx="1901600" cy="22856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950967" y="7193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66599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5671667" y="1025867"/>
            <a:ext cx="52744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subTitle" idx="1"/>
          </p:nvPr>
        </p:nvSpPr>
        <p:spPr>
          <a:xfrm>
            <a:off x="5671667" y="2479489"/>
            <a:ext cx="4912000" cy="17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4" name="Google Shape;264;p29"/>
          <p:cNvSpPr txBox="1"/>
          <p:nvPr/>
        </p:nvSpPr>
        <p:spPr>
          <a:xfrm>
            <a:off x="5671680" y="4427111"/>
            <a:ext cx="4912000" cy="1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lang="en" sz="1600" b="1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6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icons, infographics &amp; images by </a:t>
            </a:r>
            <a:r>
              <a:rPr lang="en" sz="16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600" u="sng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05815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447" y="2867"/>
            <a:ext cx="951067" cy="6852300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85187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1" y="0"/>
            <a:ext cx="12191833" cy="68580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950967" y="366217"/>
            <a:ext cx="1933200" cy="21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236292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5909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>
            <a:spLocks noGrp="1"/>
          </p:cNvSpPr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324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16390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07906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3A43-71B1-C788-A41A-C194D734F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Economics-Informed Neural Network for US Inflation Forecasting</a:t>
            </a:r>
            <a:br>
              <a:rPr lang="fr-FR" sz="4400" dirty="0"/>
            </a:br>
            <a:br>
              <a:rPr lang="fr-FR" sz="4400" dirty="0"/>
            </a:br>
            <a:endParaRPr lang="en-CA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AAC95-1308-3042-7535-1CED84EBB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Florent Samson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22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5553-69FA-27BB-D6DD-12318DE5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C70CC-4B02-D134-8BCE-45C3B52B5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67" y="2018581"/>
            <a:ext cx="9269200" cy="3731351"/>
          </a:xfrm>
        </p:spPr>
        <p:txBody>
          <a:bodyPr/>
          <a:lstStyle/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000" dirty="0"/>
              <a:t>Standard macro forecasting models (AR, VAR) impose linear structure</a:t>
            </a:r>
            <a:br>
              <a:rPr lang="en-US" sz="2000" dirty="0"/>
            </a:br>
            <a:endParaRPr lang="en-US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000" dirty="0"/>
              <a:t>Deep learning models improve forecast but are black boxes</a:t>
            </a:r>
            <a:br>
              <a:rPr lang="en-US" sz="2000" dirty="0"/>
            </a:br>
            <a:endParaRPr lang="en-US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000" dirty="0"/>
              <a:t>New Keynesian Philips Curve provides structure</a:t>
            </a:r>
            <a:br>
              <a:rPr lang="en-US" sz="2000" dirty="0"/>
            </a:br>
            <a:endParaRPr lang="en-US" sz="2000" dirty="0"/>
          </a:p>
          <a:p>
            <a:pPr marL="495300" indent="-342900">
              <a:buFont typeface="Arial" panose="020B0604020202020204" pitchFamily="34" charset="0"/>
              <a:buChar char="•"/>
            </a:pPr>
            <a:r>
              <a:rPr lang="en-US" sz="2000" dirty="0"/>
              <a:t>Post-2020 inflation surge exposed limits of both: black-box models failed out-of-distribution, and NKPC parameters appear to have shifted</a:t>
            </a:r>
            <a:br>
              <a:rPr lang="en-US" sz="2000" dirty="0"/>
            </a:b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This project:</a:t>
            </a:r>
            <a:r>
              <a:rPr lang="en-US" sz="2000" dirty="0"/>
              <a:t> embed the NKPC as a structural constraint inside a neural network — borrowing the Physics-Informed Neural Network (PINN) framework from engineering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79569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F38B-64AA-85FE-915D-478A1A9E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C4E6B-DD3A-B666-186B-78CB5894ABF0}"/>
              </a:ext>
            </a:extLst>
          </p:cNvPr>
          <p:cNvSpPr txBox="1"/>
          <p:nvPr/>
        </p:nvSpPr>
        <p:spPr>
          <a:xfrm>
            <a:off x="950967" y="1995323"/>
            <a:ext cx="108996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latin typeface="Raleway ExtraBold" pitchFamily="2" charset="0"/>
              </a:rPr>
              <a:t>Physics-Informed Neural Networks (PINNs): </a:t>
            </a:r>
            <a:endParaRPr lang="en-CA" sz="2000" dirty="0">
              <a:latin typeface="Raleway Medium" pitchFamily="2" charset="0"/>
            </a:endParaRP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Raleway Medium" pitchFamily="2" charset="0"/>
              </a:rPr>
              <a:t>Raissi</a:t>
            </a:r>
            <a:r>
              <a:rPr lang="en-US" sz="2000" dirty="0">
                <a:latin typeface="Raleway Medium" pitchFamily="2" charset="0"/>
              </a:rPr>
              <a:t> et al . (2019) “</a:t>
            </a:r>
            <a:r>
              <a:rPr lang="en-US" sz="2000" i="1" dirty="0">
                <a:latin typeface="Raleway Medium" pitchFamily="2" charset="0"/>
              </a:rPr>
              <a:t>Physics-informed neural networks: A deep learning framework for solving forward and inverse problems involving nonlinear partial differential equations</a:t>
            </a:r>
            <a:r>
              <a:rPr lang="en-US" sz="2000" dirty="0">
                <a:latin typeface="Raleway Medium" pitchFamily="2" charset="0"/>
              </a:rPr>
              <a:t>”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CA" sz="2000" dirty="0">
                <a:latin typeface="Raleway Medium" pitchFamily="2" charset="0"/>
              </a:rPr>
              <a:t>Neural Networks embedding physical laws into the loss function</a:t>
            </a:r>
          </a:p>
          <a:p>
            <a:endParaRPr lang="en-CA" sz="2000" dirty="0">
              <a:latin typeface="Raleway Medium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B73F19-0454-BB8E-6281-D92DB53249CB}"/>
                  </a:ext>
                </a:extLst>
              </p:cNvPr>
              <p:cNvSpPr txBox="1"/>
              <p:nvPr/>
            </p:nvSpPr>
            <p:spPr>
              <a:xfrm>
                <a:off x="950967" y="3732362"/>
                <a:ext cx="10487659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2000" dirty="0">
                    <a:latin typeface="Raleway ExtraBold" pitchFamily="2" charset="0"/>
                  </a:rPr>
                  <a:t>Economic Adaption</a:t>
                </a:r>
                <a:endParaRPr lang="en-CA" sz="2000" dirty="0">
                  <a:latin typeface="Raleway Medium" pitchFamily="2" charset="0"/>
                </a:endParaRPr>
              </a:p>
              <a:p>
                <a:pPr marL="285750" lvl="7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Raleway Medium" pitchFamily="2" charset="0"/>
                  </a:rPr>
                  <a:t>Replace PDE with New-Keynesian Philips Curve </a:t>
                </a:r>
              </a:p>
              <a:p>
                <a:pPr lvl="7"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sz="2000" smtClean="0"/>
                        <m:t>​=</m:t>
                      </m:r>
                      <m:r>
                        <m:rPr>
                          <m:nor/>
                        </m:rPr>
                        <a:rPr lang="en-CA" sz="2000" b="0" i="0" smtClean="0"/>
                        <m:t> </m:t>
                      </m:r>
                      <m:r>
                        <m:rPr>
                          <m:nor/>
                        </m:rPr>
                        <a:rPr lang="el-G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sSub>
                        <m:sSubPr>
                          <m:ctrlPr>
                            <a:rPr lang="en-CA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CA" sz="2000" smtClean="0"/>
                        <m:t>​[</m:t>
                      </m:r>
                      <m:sSub>
                        <m:sSubPr>
                          <m:ctrlPr>
                            <a:rPr lang="en-CA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CA" sz="2000" smtClean="0"/>
                        <m:t>​]+</m:t>
                      </m:r>
                      <m:r>
                        <m:rPr>
                          <m:nor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κ</m:t>
                      </m:r>
                      <m:sSub>
                        <m:sSubPr>
                          <m:ctrl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CA" sz="2000" smtClean="0"/>
                        <m:t>​+</m:t>
                      </m:r>
                      <m:sSub>
                        <m:sSubPr>
                          <m:ctrlPr>
                            <a:rPr lang="en-CA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CA" sz="2000" smtClean="0"/>
                        <m:t>​</m:t>
                      </m:r>
                    </m:oMath>
                  </m:oMathPara>
                </a14:m>
                <a:endParaRPr lang="en-US" sz="2000" dirty="0">
                  <a:latin typeface="Raleway Medium" pitchFamily="2" charset="0"/>
                </a:endParaRPr>
              </a:p>
              <a:p>
                <a:pPr lvl="7" algn="ctr"/>
                <a:endParaRPr lang="en-US" sz="2000" dirty="0">
                  <a:latin typeface="Raleway Medium" pitchFamily="2" charset="0"/>
                </a:endParaRPr>
              </a:p>
              <a:p>
                <a:pPr marL="285750" lvl="7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Raleway Medium" pitchFamily="2" charset="0"/>
                  </a:rPr>
                  <a:t>Parameters β and κ are not calibrated externally but learned jointly with network weights via </a:t>
                </a:r>
                <a:r>
                  <a:rPr lang="en-US" sz="2000" dirty="0" err="1">
                    <a:latin typeface="Raleway Medium" pitchFamily="2" charset="0"/>
                  </a:rPr>
                  <a:t>autodiff</a:t>
                </a:r>
                <a:endParaRPr lang="en-CA" sz="2000" dirty="0">
                  <a:latin typeface="Raleway Medium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B73F19-0454-BB8E-6281-D92DB5324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67" y="3732362"/>
                <a:ext cx="10487659" cy="2246769"/>
              </a:xfrm>
              <a:prstGeom prst="rect">
                <a:avLst/>
              </a:prstGeom>
              <a:blipFill>
                <a:blip r:embed="rId2"/>
                <a:stretch>
                  <a:fillRect l="-640" t="-1355" b="-37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66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CEFE-95A3-EB25-9B6D-EDCD3C49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7F1BA-84C3-7BFD-AD7D-EC59692D3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965" y="1650206"/>
            <a:ext cx="10257623" cy="535952"/>
          </a:xfrm>
        </p:spPr>
        <p:txBody>
          <a:bodyPr numCol="2"/>
          <a:lstStyle/>
          <a:p>
            <a:pPr marL="203195" indent="0">
              <a:buNone/>
            </a:pPr>
            <a:r>
              <a:rPr lang="en-CA" sz="1400" dirty="0"/>
              <a:t>All data taken from FRED. Monthly. Standardized.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3F7056-B462-1CC7-5EC1-43686882B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37896"/>
              </p:ext>
            </p:extLst>
          </p:nvPr>
        </p:nvGraphicFramePr>
        <p:xfrm>
          <a:off x="950965" y="2186157"/>
          <a:ext cx="10257624" cy="3458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406">
                  <a:extLst>
                    <a:ext uri="{9D8B030D-6E8A-4147-A177-3AD203B41FA5}">
                      <a16:colId xmlns:a16="http://schemas.microsoft.com/office/drawing/2014/main" val="4158054030"/>
                    </a:ext>
                  </a:extLst>
                </a:gridCol>
                <a:gridCol w="2564406">
                  <a:extLst>
                    <a:ext uri="{9D8B030D-6E8A-4147-A177-3AD203B41FA5}">
                      <a16:colId xmlns:a16="http://schemas.microsoft.com/office/drawing/2014/main" val="4029298338"/>
                    </a:ext>
                  </a:extLst>
                </a:gridCol>
                <a:gridCol w="2564406">
                  <a:extLst>
                    <a:ext uri="{9D8B030D-6E8A-4147-A177-3AD203B41FA5}">
                      <a16:colId xmlns:a16="http://schemas.microsoft.com/office/drawing/2014/main" val="900622060"/>
                    </a:ext>
                  </a:extLst>
                </a:gridCol>
                <a:gridCol w="2564406">
                  <a:extLst>
                    <a:ext uri="{9D8B030D-6E8A-4147-A177-3AD203B41FA5}">
                      <a16:colId xmlns:a16="http://schemas.microsoft.com/office/drawing/2014/main" val="549285299"/>
                    </a:ext>
                  </a:extLst>
                </a:gridCol>
              </a:tblGrid>
              <a:tr h="348233">
                <a:tc>
                  <a:txBody>
                    <a:bodyPr/>
                    <a:lstStyle/>
                    <a:p>
                      <a:r>
                        <a:rPr lang="en-CA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FRED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112942"/>
                  </a:ext>
                </a:extLst>
              </a:tr>
              <a:tr h="635384">
                <a:tc>
                  <a:txBody>
                    <a:bodyPr/>
                    <a:lstStyle/>
                    <a:p>
                      <a:r>
                        <a:rPr lang="en-CA" sz="1600" dirty="0"/>
                        <a:t>CPI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CPIAUCSL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Target (12-months% change)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Log-diff, annualized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68624"/>
                  </a:ext>
                </a:extLst>
              </a:tr>
              <a:tr h="348233">
                <a:tc>
                  <a:txBody>
                    <a:bodyPr/>
                    <a:lstStyle/>
                    <a:p>
                      <a:r>
                        <a:rPr lang="en-CA" sz="1600" dirty="0"/>
                        <a:t>Unemployment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UNRATE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Gap = UNRATE - NAIRU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729884"/>
                  </a:ext>
                </a:extLst>
              </a:tr>
              <a:tr h="348233">
                <a:tc>
                  <a:txBody>
                    <a:bodyPr/>
                    <a:lstStyle/>
                    <a:p>
                      <a:r>
                        <a:rPr lang="en-CA" sz="1600" dirty="0"/>
                        <a:t>CBO NAIRU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NROU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Interpolated to monthly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127052"/>
                  </a:ext>
                </a:extLst>
              </a:tr>
              <a:tr h="348233">
                <a:tc>
                  <a:txBody>
                    <a:bodyPr/>
                    <a:lstStyle/>
                    <a:p>
                      <a:r>
                        <a:rPr lang="en-CA" sz="1600" dirty="0" err="1"/>
                        <a:t>UMich</a:t>
                      </a:r>
                      <a:r>
                        <a:rPr lang="en-CA" sz="1600" dirty="0"/>
                        <a:t>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Inflation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t+12 instead of t+1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73353"/>
                  </a:ext>
                </a:extLst>
              </a:tr>
              <a:tr h="348233">
                <a:tc>
                  <a:txBody>
                    <a:bodyPr/>
                    <a:lstStyle/>
                    <a:p>
                      <a:r>
                        <a:rPr lang="en-CA" sz="1600" dirty="0"/>
                        <a:t>Macroeconomic covariates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INDPRO, WTISPLC, PPIACO, FEDFUNDS, NFCI, </a:t>
                      </a:r>
                      <a:r>
                        <a:rPr lang="en-CA" sz="1600" dirty="0" err="1"/>
                        <a:t>etc</a:t>
                      </a:r>
                      <a:endParaRPr lang="en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Input to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791877"/>
                  </a:ext>
                </a:extLst>
              </a:tr>
              <a:tr h="348233">
                <a:tc>
                  <a:txBody>
                    <a:bodyPr/>
                    <a:lstStyle/>
                    <a:p>
                      <a:r>
                        <a:rPr lang="en-CA" sz="1600" dirty="0"/>
                        <a:t>Lags of inflation, gap, and expectations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600" dirty="0"/>
                        <a:t>CPIAUCSL, UNRATE, NROU, MICH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Input to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658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87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C192-711C-46E3-9807-A1CD1CF8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Architecture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7C02F5E5-AE32-EA59-E174-3C838357B2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05132" y="1586945"/>
                <a:ext cx="5290868" cy="4007600"/>
              </a:xfrm>
            </p:spPr>
            <p:txBody>
              <a:bodyPr/>
              <a:lstStyle/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800" dirty="0">
                    <a:latin typeface="Raleway ExtraBold" pitchFamily="2" charset="0"/>
                  </a:rPr>
                  <a:t>Dual Loss Function</a:t>
                </a:r>
              </a:p>
              <a:p>
                <a:pPr marL="20319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𝑁𝐾𝑃𝐶</m:t>
                          </m:r>
                        </m:sub>
                      </m:sSub>
                    </m:oMath>
                  </m:oMathPara>
                </a14:m>
                <a:endParaRPr lang="en-CA" sz="1600" dirty="0">
                  <a:latin typeface="Raleway ExtraBold" pitchFamily="2" charset="0"/>
                </a:endParaRPr>
              </a:p>
              <a:p>
                <a:pPr marL="203195" indent="0">
                  <a:buNone/>
                </a:pPr>
                <a:endParaRPr lang="en-CA" sz="1800" dirty="0">
                  <a:latin typeface="Raleway ExtraBold" pitchFamily="2" charset="0"/>
                </a:endParaRPr>
              </a:p>
              <a:p>
                <a:pPr marL="203195" indent="0">
                  <a:buNone/>
                </a:pPr>
                <a:r>
                  <a:rPr lang="en-CA" sz="1800" dirty="0">
                    <a:latin typeface="Raleway ExtraBold" pitchFamily="2" charset="0"/>
                  </a:rPr>
                  <a:t>Prediction Loss</a:t>
                </a:r>
                <a:br>
                  <a:rPr lang="en-CA" sz="1800" dirty="0">
                    <a:latin typeface="Raleway ExtraBold" pitchFamily="2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CA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CA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CA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A" sz="1800" b="0" dirty="0">
                  <a:latin typeface="Raleway ExtraBold" pitchFamily="2" charset="0"/>
                  <a:ea typeface="Cambria Math" panose="02040503050406030204" pitchFamily="18" charset="0"/>
                </a:endParaRPr>
              </a:p>
              <a:p>
                <a:pPr marL="203195" indent="0">
                  <a:buNone/>
                </a:pPr>
                <a:endParaRPr lang="en-CA" sz="1800" dirty="0">
                  <a:latin typeface="Raleway ExtraBold" pitchFamily="2" charset="0"/>
                </a:endParaRPr>
              </a:p>
              <a:p>
                <a:pPr marL="203195" indent="0">
                  <a:buNone/>
                </a:pPr>
                <a:r>
                  <a:rPr lang="en-CA" sz="1800" dirty="0">
                    <a:latin typeface="Raleway ExtraBold" pitchFamily="2" charset="0"/>
                  </a:rPr>
                  <a:t>NKPC Structural Loss</a:t>
                </a:r>
                <a:br>
                  <a:rPr lang="en-CA" sz="1800" dirty="0">
                    <a:latin typeface="Raleway ExtraBold" pitchFamily="2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𝑁𝐾𝑃𝐶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CA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CA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CA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CA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CA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CA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CA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CA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CA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+1+12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 </m:t>
                                  </m:r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  <m:sSub>
                                    <m:sSubPr>
                                      <m:ctrlP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CA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br>
                  <a:rPr lang="en-CA" sz="1800" dirty="0">
                    <a:latin typeface="Raleway ExtraBold" pitchFamily="2" charset="0"/>
                  </a:rPr>
                </a:br>
                <a:endParaRPr lang="en-CA" sz="1800" dirty="0">
                  <a:latin typeface="Raleway ExtraBold" pitchFamily="2" charset="0"/>
                </a:endParaRPr>
              </a:p>
              <a:p>
                <a:pPr marL="203195" indent="0">
                  <a:buNone/>
                </a:pPr>
                <a:endParaRPr lang="en-CA" sz="1800" dirty="0">
                  <a:latin typeface="Raleway ExtraBold" pitchFamily="2" charset="0"/>
                </a:endParaRPr>
              </a:p>
              <a:p>
                <a:pPr marL="203195" indent="0">
                  <a:buNone/>
                </a:pPr>
                <a14:m>
                  <m:oMath xmlns:m="http://schemas.openxmlformats.org/officeDocument/2006/math">
                    <m:r>
                      <a:rPr lang="en-CA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CA" sz="1600" dirty="0">
                    <a:latin typeface="Raleway Medium" pitchFamily="2" charset="0"/>
                  </a:rPr>
                  <a:t> is a hyperparameter (</a:t>
                </a:r>
                <a14:m>
                  <m:oMath xmlns:m="http://schemas.openxmlformats.org/officeDocument/2006/math">
                    <m:r>
                      <a:rPr lang="en-CA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sz="1600" dirty="0">
                    <a:latin typeface="Raleway Medium" pitchFamily="2" charset="0"/>
                  </a:rPr>
                  <a:t> -&gt; regular NN)</a:t>
                </a:r>
              </a:p>
              <a:p>
                <a:pPr marL="203195" indent="0">
                  <a:buNone/>
                </a:pPr>
                <a14:m>
                  <m:oMath xmlns:m="http://schemas.openxmlformats.org/officeDocument/2006/math">
                    <m:r>
                      <a:rPr lang="en-CA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CA" sz="1600" dirty="0">
                    <a:latin typeface="Raleway Medium" pitchFamily="2" charset="0"/>
                  </a:rPr>
                  <a:t> are parameters of the NKPC learned in the NN</a:t>
                </a:r>
              </a:p>
            </p:txBody>
          </p:sp>
        </mc:Choice>
        <mc:Fallback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7C02F5E5-AE32-EA59-E174-3C838357B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05132" y="1586945"/>
                <a:ext cx="5290868" cy="4007600"/>
              </a:xfrm>
              <a:blipFill>
                <a:blip r:embed="rId2"/>
                <a:stretch>
                  <a:fillRect b="-13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7">
                <a:extLst>
                  <a:ext uri="{FF2B5EF4-FFF2-40B4-BE49-F238E27FC236}">
                    <a16:creationId xmlns:a16="http://schemas.microsoft.com/office/drawing/2014/main" id="{268D3614-3A22-011E-A217-47E3278000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586945"/>
                <a:ext cx="5594000" cy="400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609585" marR="0" lvl="0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Raleway Light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1pPr>
                <a:lvl2pPr marL="1219170" marR="0" lvl="1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2pPr>
                <a:lvl3pPr marL="1828754" marR="0" lvl="2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3pPr>
                <a:lvl4pPr marL="2438339" marR="0" lvl="3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4pPr>
                <a:lvl5pPr marL="3047924" marR="0" lvl="4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5pPr>
                <a:lvl6pPr marL="3657509" marR="0" lvl="5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6pPr>
                <a:lvl7pPr marL="4267093" marR="0" lvl="6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●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7pPr>
                <a:lvl8pPr marL="4876678" marR="0" lvl="7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○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8pPr>
                <a:lvl9pPr marL="5486263" marR="0" lvl="8" indent="-406390" algn="l" rtl="0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Nunito Light"/>
                  <a:buChar char="■"/>
                  <a:defRPr sz="1200" b="0" i="0" u="none" strike="noStrike" cap="none">
                    <a:solidFill>
                      <a:schemeClr val="dk1"/>
                    </a:solidFill>
                    <a:latin typeface="Raleway Medium"/>
                    <a:ea typeface="Raleway Medium"/>
                    <a:cs typeface="Raleway Medium"/>
                    <a:sym typeface="Raleway Medium"/>
                  </a:defRPr>
                </a:lvl9pPr>
              </a:lstStyle>
              <a:p>
                <a:pPr marL="203195" indent="0">
                  <a:lnSpc>
                    <a:spcPct val="150000"/>
                  </a:lnSpc>
                  <a:buFont typeface="Raleway Light"/>
                  <a:buNone/>
                </a:pPr>
                <a:r>
                  <a:rPr lang="en-CA" sz="1800" dirty="0">
                    <a:latin typeface="Raleway ExtraBold" pitchFamily="2" charset="0"/>
                  </a:rPr>
                  <a:t>Model Architecture </a:t>
                </a:r>
              </a:p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600" dirty="0">
                    <a:latin typeface="Raleway ExtraBold" pitchFamily="2" charset="0"/>
                  </a:rPr>
                  <a:t>Inputs</a:t>
                </a:r>
                <a:r>
                  <a:rPr lang="en-CA" sz="1600" dirty="0">
                    <a:latin typeface="Raleway Medium" pitchFamily="2" charset="0"/>
                  </a:rPr>
                  <a:t>: Lagged variables, covariates</a:t>
                </a:r>
              </a:p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600" dirty="0">
                    <a:latin typeface="Raleway ExtraBold" pitchFamily="2" charset="0"/>
                  </a:rPr>
                  <a:t>Hidden</a:t>
                </a:r>
                <a:r>
                  <a:rPr lang="en-CA" sz="1600" dirty="0">
                    <a:latin typeface="Raleway Medium" pitchFamily="2" charset="0"/>
                  </a:rPr>
                  <a:t> </a:t>
                </a:r>
                <a:r>
                  <a:rPr lang="en-CA" sz="1600" dirty="0">
                    <a:latin typeface="Raleway ExtraBold" pitchFamily="2" charset="0"/>
                  </a:rPr>
                  <a:t>1</a:t>
                </a:r>
                <a:r>
                  <a:rPr lang="en-CA" sz="1600" dirty="0">
                    <a:latin typeface="Raleway Medium" pitchFamily="2" charset="0"/>
                  </a:rPr>
                  <a:t>: Dense x 64 | </a:t>
                </a:r>
                <a:r>
                  <a:rPr lang="en-CA" sz="1600" dirty="0" err="1">
                    <a:latin typeface="Raleway Medium" pitchFamily="2" charset="0"/>
                  </a:rPr>
                  <a:t>ReLU</a:t>
                </a:r>
                <a:endParaRPr lang="en-CA" sz="1600" dirty="0">
                  <a:latin typeface="Raleway Medium" pitchFamily="2" charset="0"/>
                </a:endParaRPr>
              </a:p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600" dirty="0">
                    <a:latin typeface="Raleway ExtraBold" pitchFamily="2" charset="0"/>
                  </a:rPr>
                  <a:t>Hidden</a:t>
                </a:r>
                <a:r>
                  <a:rPr lang="en-CA" sz="1600" dirty="0">
                    <a:latin typeface="Raleway Medium" pitchFamily="2" charset="0"/>
                  </a:rPr>
                  <a:t> </a:t>
                </a:r>
                <a:r>
                  <a:rPr lang="en-CA" sz="1600" dirty="0">
                    <a:latin typeface="Raleway ExtraBold" pitchFamily="2" charset="0"/>
                  </a:rPr>
                  <a:t>2</a:t>
                </a:r>
                <a:r>
                  <a:rPr lang="en-CA" sz="1600" dirty="0">
                    <a:latin typeface="Raleway Medium" pitchFamily="2" charset="0"/>
                  </a:rPr>
                  <a:t>: Dense x 32 | </a:t>
                </a:r>
                <a:r>
                  <a:rPr lang="en-CA" sz="1600" dirty="0" err="1">
                    <a:latin typeface="Raleway Medium" pitchFamily="2" charset="0"/>
                  </a:rPr>
                  <a:t>ReLU</a:t>
                </a:r>
                <a:endParaRPr lang="en-CA" sz="1600" dirty="0">
                  <a:latin typeface="Raleway Medium" pitchFamily="2" charset="0"/>
                </a:endParaRPr>
              </a:p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600" dirty="0">
                    <a:latin typeface="Raleway ExtraBold" pitchFamily="2" charset="0"/>
                  </a:rPr>
                  <a:t>Output Head</a:t>
                </a:r>
                <a:r>
                  <a:rPr lang="en-CA" sz="1600" dirty="0">
                    <a:latin typeface="Raleway Medium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A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acc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CA" sz="1600" b="0" dirty="0">
                  <a:latin typeface="Raleway Medium" pitchFamily="2" charset="0"/>
                </a:endParaRPr>
              </a:p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600" b="0" dirty="0">
                    <a:latin typeface="Raleway ExtraBold" pitchFamily="2" charset="0"/>
                  </a:rPr>
                  <a:t>Also learned</a:t>
                </a:r>
                <a:r>
                  <a:rPr lang="en-CA" sz="1600" b="0" dirty="0">
                    <a:latin typeface="Raleway Medium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endParaRPr lang="en-CA" sz="1600" b="0" dirty="0">
                  <a:latin typeface="Raleway Medium" pitchFamily="2" charset="0"/>
                </a:endParaRPr>
              </a:p>
              <a:p>
                <a:pPr marL="203195" indent="0">
                  <a:lnSpc>
                    <a:spcPct val="150000"/>
                  </a:lnSpc>
                  <a:buNone/>
                </a:pPr>
                <a:r>
                  <a:rPr lang="en-CA" sz="1600" dirty="0">
                    <a:latin typeface="Raleway ExtraBold" pitchFamily="2" charset="0"/>
                  </a:rPr>
                  <a:t>Implementation</a:t>
                </a:r>
                <a:r>
                  <a:rPr lang="en-CA" sz="1600" dirty="0">
                    <a:latin typeface="Raleway Medium" pitchFamily="2" charset="0"/>
                  </a:rPr>
                  <a:t>: Python with Jax</a:t>
                </a:r>
                <a:br>
                  <a:rPr lang="en-CA" sz="1400" dirty="0">
                    <a:latin typeface="Raleway Medium" pitchFamily="2" charset="0"/>
                  </a:rPr>
                </a:br>
                <a:br>
                  <a:rPr lang="en-CA" sz="1800" dirty="0">
                    <a:latin typeface="Raleway ExtraBold" pitchFamily="2" charset="0"/>
                  </a:rPr>
                </a:br>
                <a:r>
                  <a:rPr lang="en-CA" sz="1800" dirty="0">
                    <a:latin typeface="Raleway ExtraBold" pitchFamily="2" charset="0"/>
                  </a:rPr>
                  <a:t>Constraints</a:t>
                </a:r>
              </a:p>
              <a:p>
                <a:pPr marL="20319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𝑟𝑎𝑤</m:t>
                              </m:r>
                            </m:sub>
                          </m:sSub>
                        </m:e>
                      </m:d>
                      <m:r>
                        <a:rPr lang="en-CA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1800" b="0" dirty="0">
                  <a:latin typeface="Raleway ExtraBold" pitchFamily="2" charset="0"/>
                </a:endParaRPr>
              </a:p>
              <a:p>
                <a:pPr marL="203195" indent="0">
                  <a:lnSpc>
                    <a:spcPct val="150000"/>
                  </a:lnSpc>
                  <a:buNone/>
                </a:pPr>
                <a:endParaRPr lang="en-CA" sz="1600" dirty="0">
                  <a:latin typeface="Raleway Medium" pitchFamily="2" charset="0"/>
                </a:endParaRPr>
              </a:p>
            </p:txBody>
          </p:sp>
        </mc:Choice>
        <mc:Fallback>
          <p:sp>
            <p:nvSpPr>
              <p:cNvPr id="9" name="Text Placeholder 7">
                <a:extLst>
                  <a:ext uri="{FF2B5EF4-FFF2-40B4-BE49-F238E27FC236}">
                    <a16:creationId xmlns:a16="http://schemas.microsoft.com/office/drawing/2014/main" id="{268D3614-3A22-011E-A217-47E327800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86945"/>
                <a:ext cx="5594000" cy="4007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55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7D0D-FCF9-F249-84AF-83E06387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04D60-FCA8-1AA9-5E59-900CDCBD4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675" y="2077933"/>
            <a:ext cx="9150491" cy="3672000"/>
          </a:xfrm>
        </p:spPr>
        <p:txBody>
          <a:bodyPr/>
          <a:lstStyle/>
          <a:p>
            <a:pPr marL="152400" indent="0">
              <a:lnSpc>
                <a:spcPct val="150000"/>
              </a:lnSpc>
            </a:pPr>
            <a:r>
              <a:rPr lang="en-CA" sz="1800" dirty="0"/>
              <a:t>Compare </a:t>
            </a:r>
            <a:r>
              <a:rPr lang="en-CA" sz="1800" dirty="0">
                <a:latin typeface="Raleway ExtraBold" pitchFamily="2" charset="0"/>
              </a:rPr>
              <a:t>EINN</a:t>
            </a:r>
            <a:r>
              <a:rPr lang="en-CA" sz="1800" dirty="0"/>
              <a:t> (Economic-Informed Neural Network) performance against econometrics and NN benchmarks</a:t>
            </a:r>
          </a:p>
          <a:p>
            <a:pPr marL="152400" indent="0">
              <a:lnSpc>
                <a:spcPct val="150000"/>
              </a:lnSpc>
            </a:pPr>
            <a:endParaRPr lang="en-CA" sz="1800" dirty="0"/>
          </a:p>
          <a:p>
            <a:pPr marL="438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AR(1)</a:t>
            </a:r>
          </a:p>
          <a:p>
            <a:pPr marL="438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LASSO</a:t>
            </a:r>
          </a:p>
          <a:p>
            <a:pPr marL="438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VAR (CPI Inflation, Slack, Expectations, Covariates)</a:t>
            </a:r>
          </a:p>
          <a:p>
            <a:pPr marL="438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/>
              <a:t>Basic Neural Network (Same architecture and inputs, normal loss function)</a:t>
            </a:r>
          </a:p>
          <a:p>
            <a:pPr marL="152400" indent="0"/>
            <a:endParaRPr lang="en-CA" dirty="0"/>
          </a:p>
          <a:p>
            <a:pPr marL="3238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59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A59C-98F1-0F2B-2170-2A16321F9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Evaluation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90881F0-3E82-6B08-0E21-EFD91CED71D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 marL="152400" indent="0">
                  <a:lnSpc>
                    <a:spcPct val="150000"/>
                  </a:lnSpc>
                </a:pPr>
                <a:r>
                  <a:rPr lang="en-US" sz="1800" dirty="0">
                    <a:latin typeface="Raleway ExtraBold" pitchFamily="2" charset="0"/>
                  </a:rPr>
                  <a:t>Horizon: </a:t>
                </a:r>
                <a:r>
                  <a:rPr lang="en-US" sz="1800" dirty="0">
                    <a:latin typeface="Raleway Medium" pitchFamily="2" charset="0"/>
                  </a:rPr>
                  <a:t>Forecast 1M, 3M, 6M ahead</a:t>
                </a:r>
                <a:br>
                  <a:rPr lang="en-US" sz="1800" dirty="0">
                    <a:latin typeface="Raleway ExtraBold" pitchFamily="2" charset="0"/>
                  </a:rPr>
                </a:br>
                <a:endParaRPr lang="en-US" sz="1800" dirty="0">
                  <a:latin typeface="Raleway ExtraBold" pitchFamily="2" charset="0"/>
                </a:endParaRPr>
              </a:p>
              <a:p>
                <a:pPr marL="152400" indent="0">
                  <a:lnSpc>
                    <a:spcPct val="150000"/>
                  </a:lnSpc>
                </a:pPr>
                <a:r>
                  <a:rPr lang="en-US" sz="1800" dirty="0">
                    <a:latin typeface="Raleway ExtraBold" pitchFamily="2" charset="0"/>
                  </a:rPr>
                  <a:t>Split: </a:t>
                </a:r>
                <a:r>
                  <a:rPr lang="en-US" sz="1800" dirty="0">
                    <a:latin typeface="Raleway Medium" pitchFamily="2" charset="0"/>
                  </a:rPr>
                  <a:t>Recursive Expanding Window with separate training, validation and training sets. Add to training set after forecast.</a:t>
                </a:r>
                <a:br>
                  <a:rPr lang="en-US" sz="1800" dirty="0">
                    <a:latin typeface="Raleway Medium" pitchFamily="2" charset="0"/>
                  </a:rPr>
                </a:br>
                <a:r>
                  <a:rPr lang="en-US" sz="1800" dirty="0">
                    <a:latin typeface="Raleway ExtraBold" pitchFamily="2" charset="0"/>
                  </a:rPr>
                  <a:t>Metric: </a:t>
                </a:r>
                <a:r>
                  <a:rPr lang="en-US" sz="1800" dirty="0">
                    <a:latin typeface="Raleway Medium" pitchFamily="2" charset="0"/>
                  </a:rPr>
                  <a:t>Root Mean Square Error 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CA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CA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CA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CA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CA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br>
                  <a:rPr lang="en-CA" sz="1800" dirty="0">
                    <a:latin typeface="Raleway Medium" pitchFamily="2" charset="0"/>
                  </a:rPr>
                </a:br>
                <a:endParaRPr lang="en-US" sz="1800" dirty="0">
                  <a:latin typeface="Raleway Medium" pitchFamily="2" charset="0"/>
                </a:endParaRPr>
              </a:p>
              <a:p>
                <a:pPr marL="152400" indent="0">
                  <a:lnSpc>
                    <a:spcPct val="150000"/>
                  </a:lnSpc>
                </a:pPr>
                <a:r>
                  <a:rPr lang="en-US" sz="1800" dirty="0">
                    <a:latin typeface="Raleway ExtraBold" pitchFamily="2" charset="0"/>
                  </a:rPr>
                  <a:t>Statistical Testing: </a:t>
                </a:r>
                <a:r>
                  <a:rPr lang="en-US" sz="1800" dirty="0">
                    <a:latin typeface="Raleway Medium" pitchFamily="2" charset="0"/>
                  </a:rPr>
                  <a:t>Compare RMSE using Diebold-Mariano (DM) test with HAC and small sample correction</a:t>
                </a:r>
              </a:p>
              <a:p>
                <a:pPr marL="152400" indent="0">
                  <a:lnSpc>
                    <a:spcPct val="150000"/>
                  </a:lnSpc>
                </a:pPr>
                <a:endParaRPr lang="en-US" sz="1800" dirty="0">
                  <a:latin typeface="Raleway ExtraBold" pitchFamily="2" charset="0"/>
                </a:endParaRPr>
              </a:p>
              <a:p>
                <a:pPr marL="152400" indent="0">
                  <a:lnSpc>
                    <a:spcPct val="150000"/>
                  </a:lnSpc>
                </a:pPr>
                <a:endParaRPr lang="en-US" sz="1800" dirty="0">
                  <a:latin typeface="Raleway Medium" pitchFamily="2" charset="0"/>
                </a:endParaRP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90881F0-3E82-6B08-0E21-EFD91CED7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b="-631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53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B074-E28B-0F0E-00C1-8F7DB0C5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7FB0-1DB0-3DD4-70E7-60985E34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Weaknesses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F9C1E4C1-8B9E-4E2C-110E-38D0AC3EC62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Raleway Medium" pitchFamily="2" charset="0"/>
                  </a:rPr>
                  <a:t>Structural Macro equations don’t always track data well</a:t>
                </a: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Raleway Medium" pitchFamily="2" charset="0"/>
                  </a:rPr>
                  <a:t>Small sample size for deep learning</a:t>
                </a: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Raleway Medium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1800" dirty="0">
                    <a:latin typeface="Raleway Medium" pitchFamily="2" charset="0"/>
                  </a:rPr>
                  <a:t> are learned but not identified. It is a forecasting model</a:t>
                </a: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Raleway Medium" pitchFamily="2" charset="0"/>
                  </a:rPr>
                  <a:t>UMich</a:t>
                </a:r>
                <a:r>
                  <a:rPr lang="en-US" sz="1800" dirty="0">
                    <a:latin typeface="Raleway Medium" pitchFamily="2" charset="0"/>
                  </a:rPr>
                  <a:t> SoC is only a proxy for inflation expectations, and is only available for 12 months ahead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F9C1E4C1-8B9E-4E2C-110E-38D0AC3EC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87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AE81-429D-95A7-3695-C4DECFDE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EA7F-4FA3-5D2A-C43B-DD3138BA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Extensions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CAD754E-1B5D-6558-B16F-5B08D2C5C53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Raleway Medium" pitchFamily="2" charset="0"/>
                  </a:rPr>
                  <a:t>Make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d>
                      <m:dPr>
                        <m:ctrlPr>
                          <a:rPr lang="en-CA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latin typeface="Raleway Medium" pitchFamily="2" charset="0"/>
                  </a:rPr>
                  <a:t> non-linear or time-varying</a:t>
                </a:r>
                <a:br>
                  <a:rPr lang="en-US" sz="1800" dirty="0">
                    <a:latin typeface="Raleway Medium" pitchFamily="2" charset="0"/>
                  </a:rPr>
                </a:br>
                <a:endParaRPr lang="en-US" sz="1800" dirty="0">
                  <a:latin typeface="Raleway Medium" pitchFamily="2" charset="0"/>
                </a:endParaRP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Raleway Medium" pitchFamily="2" charset="0"/>
                  </a:rPr>
                  <a:t>Make the EINN forecast Expectations and Gap as well as Inflation to make it structural and give meaning to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Raleway Medium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1800" dirty="0">
                    <a:latin typeface="Raleway Medium" pitchFamily="2" charset="0"/>
                  </a:rPr>
                  <a:t> (Possibly unstable)</a:t>
                </a:r>
                <a:br>
                  <a:rPr lang="en-US" sz="1800" dirty="0">
                    <a:latin typeface="Raleway Medium" pitchFamily="2" charset="0"/>
                  </a:rPr>
                </a:br>
                <a:endParaRPr lang="en-US" sz="1800" dirty="0">
                  <a:latin typeface="Raleway Medium" pitchFamily="2" charset="0"/>
                </a:endParaRP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Raleway Medium" pitchFamily="2" charset="0"/>
                  </a:rPr>
                  <a:t>Implement this loss function on more complex deep learning algorithms (RNN, LSTM, Transformer)</a:t>
                </a: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latin typeface="Raleway Medium" pitchFamily="2" charset="0"/>
                </a:endParaRPr>
              </a:p>
              <a:p>
                <a:pPr marL="4381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Raleway Medium" pitchFamily="2" charset="0"/>
                  </a:rPr>
                  <a:t>Use it for estimation on non-linear continuous time equations like HJB equations</a:t>
                </a:r>
              </a:p>
              <a:p>
                <a:pPr marL="152400" indent="0">
                  <a:lnSpc>
                    <a:spcPct val="150000"/>
                  </a:lnSpc>
                </a:pPr>
                <a:endParaRPr lang="en-US" sz="1800" dirty="0">
                  <a:latin typeface="Raleway Medium" pitchFamily="2" charset="0"/>
                </a:endParaRP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CAD754E-1B5D-6558-B16F-5B08D2C5C5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b="-5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350404"/>
      </p:ext>
    </p:extLst>
  </p:cSld>
  <p:clrMapOvr>
    <a:masterClrMapping/>
  </p:clrMapOvr>
</p:sld>
</file>

<file path=ppt/theme/theme1.xml><?xml version="1.0" encoding="utf-8"?>
<a:theme xmlns:a="http://schemas.openxmlformats.org/drawingml/2006/main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Succession Planning Project Proposal by Slidesgo</Template>
  <TotalTime>2480</TotalTime>
  <Words>584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Cambria Math</vt:lpstr>
      <vt:lpstr>Nunito Light</vt:lpstr>
      <vt:lpstr>Open Sans</vt:lpstr>
      <vt:lpstr>Proxima Nova</vt:lpstr>
      <vt:lpstr>Proxima Nova Semibold</vt:lpstr>
      <vt:lpstr>PT Sans</vt:lpstr>
      <vt:lpstr>Raleway</vt:lpstr>
      <vt:lpstr>Raleway ExtraBold</vt:lpstr>
      <vt:lpstr>Raleway Light</vt:lpstr>
      <vt:lpstr>Raleway Medium</vt:lpstr>
      <vt:lpstr>Succession Planning Project Proposal by Slidesgo</vt:lpstr>
      <vt:lpstr>Slidesgo Final Pages</vt:lpstr>
      <vt:lpstr>Economics-Informed Neural Network for US Inflation Forecasting  </vt:lpstr>
      <vt:lpstr>Motivation</vt:lpstr>
      <vt:lpstr>Background</vt:lpstr>
      <vt:lpstr>Data</vt:lpstr>
      <vt:lpstr>Model Architecture</vt:lpstr>
      <vt:lpstr>Benchmarks</vt:lpstr>
      <vt:lpstr>Evaluation</vt:lpstr>
      <vt:lpstr>Weaknesses</vt:lpstr>
      <vt:lpstr>Extensions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 Samson</dc:creator>
  <cp:lastModifiedBy>Florent Samson</cp:lastModifiedBy>
  <cp:revision>3</cp:revision>
  <dcterms:created xsi:type="dcterms:W3CDTF">2026-01-16T19:28:50Z</dcterms:created>
  <dcterms:modified xsi:type="dcterms:W3CDTF">2026-04-08T19:00:11Z</dcterms:modified>
</cp:coreProperties>
</file>